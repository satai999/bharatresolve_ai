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3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91695" cy="411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0584" cy="452628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2376" y="987552"/>
            <a:ext cx="100584" cy="4526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987552"/>
            <a:ext cx="100584" cy="4526280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1051560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02366"/>
                </a:solidFill>
                <a:latin typeface="Aptos"/>
              </a:rPr>
              <a:t>BHARATAGENTIC  |  CITIZEN &amp; GOVTECH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508760"/>
            <a:ext cx="64008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71F2A"/>
                </a:solidFill>
                <a:latin typeface="Aptos"/>
              </a:rPr>
              <a:t>BharatResolve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240280"/>
            <a:ext cx="6400800" cy="10972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71F2A"/>
                </a:solidFill>
                <a:latin typeface="Aptos"/>
              </a:rPr>
              <a:t>From a citizen's problem</a:t>
            </a:r>
            <a:br/>
            <a:r>
              <a:t>to a verified path to resolution.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3584448"/>
            <a:ext cx="64008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25E6D"/>
                </a:solidFill>
                <a:latin typeface="Aptos"/>
              </a:rPr>
              <a:t>An agentic AI that investigates, gathers evidence, plans safe actions,</a:t>
            </a:r>
            <a:br/>
            <a:r>
              <a:t>and verifies outcomes — instead of merely answering questions.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80" y="4892040"/>
            <a:ext cx="2514600" cy="73152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641080" y="4965192"/>
            <a:ext cx="2514600" cy="731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41080" y="5038344"/>
            <a:ext cx="2514600" cy="73152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07008" y="6144768"/>
            <a:ext cx="3840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38808"/>
                </a:solidFill>
                <a:latin typeface="Aptos"/>
              </a:rPr>
              <a:t>BUILT FOR REAL CITIZEN PROBLEMS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" y="654710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2366"/>
                </a:solidFill>
                <a:latin typeface="Aptos"/>
              </a:rPr>
              <a:t>BHARATRESOLVE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6528816"/>
            <a:ext cx="8961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525E6D"/>
                </a:solidFill>
                <a:latin typeface="Aptos"/>
              </a:rPr>
              <a:t>01  /  05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3513868-809B-303E-D027-61E447F6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041" y="1549908"/>
            <a:ext cx="4711436" cy="31409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91695" cy="411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502920"/>
            <a:ext cx="4114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933"/>
                </a:solidFill>
                <a:latin typeface="Aptos"/>
              </a:rPr>
              <a:t>01  |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41248"/>
            <a:ext cx="107899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71F2A"/>
                </a:solidFill>
                <a:latin typeface="Aptos"/>
              </a:rPr>
              <a:t>When something goes wrong, the citizen becomes the case manager.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5156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25E6D"/>
                </a:solidFill>
                <a:latin typeface="Aptos"/>
              </a:rPr>
              <a:t>A broken drain. A missing service. A delayed grievance. A public issue. The problem may be simple — the resolution journey often isn't.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171F2A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37844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“I know what is wrong. I just don't know WHO can solve it, WHAT evidence I need, or WHAT happens next.”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611880"/>
            <a:ext cx="523036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" y="3611880"/>
            <a:ext cx="64008" cy="100584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81304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9933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840480"/>
            <a:ext cx="4453128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71F2A"/>
                </a:solidFill>
                <a:latin typeface="Aptos"/>
              </a:rPr>
              <a:t>FIND THE RIGHT DOOR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297680"/>
            <a:ext cx="47731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25E6D"/>
                </a:solidFill>
                <a:latin typeface="Aptos"/>
              </a:rPr>
              <a:t>Departments, portals, schemes and grievance channels can be fragmented.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611880"/>
            <a:ext cx="523036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81344" y="3611880"/>
            <a:ext cx="64008" cy="1005840"/>
          </a:xfrm>
          <a:prstGeom prst="roundRect">
            <a:avLst>
              <a:gd name="adj" fmla="val 8000"/>
            </a:avLst>
          </a:prstGeom>
          <a:solidFill>
            <a:srgbClr val="002366"/>
          </a:solidFill>
          <a:ln>
            <a:solidFill>
              <a:srgbClr val="002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381304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2366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3" y="3840480"/>
            <a:ext cx="4453128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71F2A"/>
                </a:solidFill>
                <a:latin typeface="Aptos"/>
              </a:rPr>
              <a:t>BUILD THE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297680"/>
            <a:ext cx="47731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25E6D"/>
                </a:solidFill>
                <a:latin typeface="Aptos"/>
              </a:rPr>
              <a:t>Citizens must assemble documents, dates, photos, location and supporting facts.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818888"/>
            <a:ext cx="523036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" y="4818888"/>
            <a:ext cx="64008" cy="1005840"/>
          </a:xfrm>
          <a:prstGeom prst="roundRect">
            <a:avLst>
              <a:gd name="adj" fmla="val 8000"/>
            </a:avLst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5020056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38808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5047488"/>
            <a:ext cx="4453128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71F2A"/>
                </a:solidFill>
                <a:latin typeface="Aptos"/>
              </a:rPr>
              <a:t>NAVIGATE THE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504688"/>
            <a:ext cx="47731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25E6D"/>
                </a:solidFill>
                <a:latin typeface="Aptos"/>
              </a:rPr>
              <a:t>Knowing information is different from knowing the correct next 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818888"/>
            <a:ext cx="523036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81344" y="4818888"/>
            <a:ext cx="64008" cy="100584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5020056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9933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3" y="5047488"/>
            <a:ext cx="4453128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71F2A"/>
                </a:solidFill>
                <a:latin typeface="Aptos"/>
              </a:rPr>
              <a:t>FOLLOW 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5504688"/>
            <a:ext cx="47731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25E6D"/>
                </a:solidFill>
                <a:latin typeface="Aptos"/>
              </a:rPr>
              <a:t>A submitted complaint is not a solved complaint. Outcomes need verification.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126480"/>
            <a:ext cx="12801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2366"/>
                </a:solidFill>
                <a:latin typeface="Aptos"/>
              </a:rPr>
              <a:t>THE REAL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6099048"/>
            <a:ext cx="9052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71F2A"/>
                </a:solidFill>
                <a:latin typeface="Aptos"/>
              </a:rPr>
              <a:t>Not access to information — access to a guided, evidence-backed resolution path.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654710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2366"/>
                </a:solidFill>
                <a:latin typeface="Aptos"/>
              </a:rPr>
              <a:t>BHARATRESOLVE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528816"/>
            <a:ext cx="8961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525E6D"/>
                </a:solidFill>
                <a:latin typeface="Aptos"/>
              </a:rPr>
              <a:t>02  / 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91695" cy="411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502920"/>
            <a:ext cx="4114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933"/>
                </a:solidFill>
                <a:latin typeface="Aptos"/>
              </a:rPr>
              <a:t>02  | 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41248"/>
            <a:ext cx="107899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71F2A"/>
                </a:solidFill>
                <a:latin typeface="Aptos"/>
              </a:rPr>
              <a:t>BharatResolve AI turns a messy complaint into an executable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5156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25E6D"/>
                </a:solidFill>
                <a:latin typeface="Aptos"/>
              </a:rPr>
              <a:t>One agent. Real tools. Evidence-backed reasoning. Human approval where risk matters.</a:t>
            </a:r>
          </a:p>
        </p:txBody>
      </p:sp>
      <p:sp>
        <p:nvSpPr>
          <p:cNvPr id="8" name="Oval 7"/>
          <p:cNvSpPr/>
          <p:nvPr/>
        </p:nvSpPr>
        <p:spPr>
          <a:xfrm>
            <a:off x="1261872" y="2423160"/>
            <a:ext cx="502920" cy="502920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523744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27248"/>
            <a:ext cx="187451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401568"/>
            <a:ext cx="1581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71F2A"/>
                </a:solidFill>
                <a:latin typeface="Aptos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822191"/>
            <a:ext cx="1581912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25E6D"/>
                </a:solidFill>
                <a:latin typeface="Aptos"/>
              </a:rPr>
              <a:t>Citizen problem</a:t>
            </a:r>
            <a:br/>
            <a:r>
              <a:t>+ documents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401568"/>
            <a:ext cx="164592" cy="0"/>
          </a:xfrm>
          <a:prstGeom prst="line">
            <a:avLst/>
          </a:prstGeom>
          <a:ln w="254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29584" y="2423160"/>
            <a:ext cx="502920" cy="502920"/>
          </a:xfrm>
          <a:prstGeom prst="ellipse">
            <a:avLst/>
          </a:prstGeom>
          <a:solidFill>
            <a:srgbClr val="002366"/>
          </a:solidFill>
          <a:ln w="12700">
            <a:solidFill>
              <a:srgbClr val="002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2523744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127248"/>
            <a:ext cx="187451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80944" y="3401568"/>
            <a:ext cx="1581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71F2A"/>
                </a:solidFill>
                <a:latin typeface="Aptos"/>
              </a:rPr>
              <a:t>INVESTIGATE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822191"/>
            <a:ext cx="1581912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25E6D"/>
                </a:solidFill>
                <a:latin typeface="Aptos"/>
              </a:rPr>
              <a:t>Live sources</a:t>
            </a:r>
            <a:br/>
            <a:r>
              <a:t>+ tools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37760" y="3401568"/>
            <a:ext cx="164592" cy="0"/>
          </a:xfrm>
          <a:prstGeom prst="line">
            <a:avLst/>
          </a:prstGeom>
          <a:ln w="254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797296" y="2423160"/>
            <a:ext cx="502920" cy="502920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97296" y="2523744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2352" y="3127248"/>
            <a:ext cx="187451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48656" y="3401568"/>
            <a:ext cx="1581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71F2A"/>
                </a:solidFill>
                <a:latin typeface="Aptos"/>
              </a:rPr>
              <a:t>REASON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822191"/>
            <a:ext cx="1581912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25E6D"/>
                </a:solidFill>
                <a:latin typeface="Aptos"/>
              </a:rPr>
              <a:t>Facts • support</a:t>
            </a:r>
            <a:br/>
            <a:r>
              <a:t>• contradictions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05471" y="3401568"/>
            <a:ext cx="164592" cy="0"/>
          </a:xfrm>
          <a:prstGeom prst="line">
            <a:avLst/>
          </a:prstGeom>
          <a:ln w="254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065007" y="2423160"/>
            <a:ext cx="502920" cy="502920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65007" y="2523744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0063" y="3127248"/>
            <a:ext cx="187451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16367" y="3401568"/>
            <a:ext cx="1581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71F2A"/>
                </a:solidFill>
                <a:latin typeface="Aptos"/>
              </a:rPr>
              <a:t>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3822191"/>
            <a:ext cx="1581912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25E6D"/>
                </a:solidFill>
                <a:latin typeface="Aptos"/>
              </a:rPr>
              <a:t>Next safe</a:t>
            </a:r>
            <a:br/>
            <a:r>
              <a:t>action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73184" y="3401568"/>
            <a:ext cx="164592" cy="0"/>
          </a:xfrm>
          <a:prstGeom prst="line">
            <a:avLst/>
          </a:prstGeom>
          <a:ln w="254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332719" y="2423160"/>
            <a:ext cx="502920" cy="502920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19" y="2523744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37776" y="3127248"/>
            <a:ext cx="187451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0" y="3401568"/>
            <a:ext cx="1581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71F2A"/>
                </a:solidFill>
                <a:latin typeface="Aptos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822191"/>
            <a:ext cx="1581912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25E6D"/>
                </a:solidFill>
                <a:latin typeface="Aptos"/>
              </a:rPr>
              <a:t>Outcome or</a:t>
            </a:r>
            <a:br/>
            <a:r>
              <a:t>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074920"/>
            <a:ext cx="10972800" cy="841248"/>
          </a:xfrm>
          <a:prstGeom prst="roundRect">
            <a:avLst>
              <a:gd name="adj" fmla="val 8000"/>
            </a:avLst>
          </a:prstGeom>
          <a:solidFill>
            <a:srgbClr val="002366"/>
          </a:solidFill>
          <a:ln>
            <a:solidFill>
              <a:srgbClr val="002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" y="5294376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9933"/>
                </a:solidFill>
                <a:latin typeface="Aptos"/>
              </a:rPr>
              <a:t>AGENTIC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" y="5230368"/>
            <a:ext cx="69494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Research → reason → plan → pause for approval → act → 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285232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FF9933"/>
                </a:solidFill>
                <a:latin typeface="Aptos"/>
              </a:rPr>
              <a:t>Not just an answer.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559552"/>
            <a:ext cx="20116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It moves the case forward.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4360" y="654710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2366"/>
                </a:solidFill>
                <a:latin typeface="Aptos"/>
              </a:rPr>
              <a:t>BHARATRESOLVE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6528816"/>
            <a:ext cx="8961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525E6D"/>
                </a:solidFill>
                <a:latin typeface="Aptos"/>
              </a:rPr>
              <a:t>03  / 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91695" cy="411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502920"/>
            <a:ext cx="4114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933"/>
                </a:solidFill>
                <a:latin typeface="Aptos"/>
              </a:rPr>
              <a:t>03  |  TRUST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41248"/>
            <a:ext cx="107899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71F2A"/>
                </a:solidFill>
                <a:latin typeface="Aptos"/>
              </a:rPr>
              <a:t>Built for the moment AI has to do more than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5156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25E6D"/>
                </a:solidFill>
                <a:latin typeface="Aptos"/>
              </a:rPr>
              <a:t>BharatResolve AI constrains action with evidence, risk controls and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95728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" y="2395728"/>
            <a:ext cx="3337560" cy="91440"/>
          </a:xfrm>
          <a:prstGeom prst="roundRect">
            <a:avLst>
              <a:gd name="adj" fmla="val 8000"/>
            </a:avLst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2761488"/>
            <a:ext cx="438912" cy="438912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52928"/>
            <a:ext cx="43891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61488"/>
            <a:ext cx="21488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71F2A"/>
                </a:solidFill>
                <a:latin typeface="Aptos"/>
              </a:rPr>
              <a:t>EVIDENCE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401568"/>
            <a:ext cx="2191497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25E6D"/>
                </a:solidFill>
                <a:latin typeface="Aptos"/>
              </a:rPr>
              <a:t>Claims carry provenance.</a:t>
            </a:r>
            <a:br>
              <a:rPr dirty="0"/>
            </a:br>
            <a:r>
              <a:rPr sz="1400" dirty="0">
                <a:solidFill>
                  <a:schemeClr val="tx2">
                    <a:lumMod val="75000"/>
                  </a:schemeClr>
                </a:solidFill>
              </a:rPr>
              <a:t>Zero evidence cannot become</a:t>
            </a:r>
            <a:endParaRPr lang="en-IN" sz="1400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r>
              <a:rPr sz="1400" dirty="0">
                <a:solidFill>
                  <a:schemeClr val="tx2">
                    <a:lumMod val="75000"/>
                  </a:schemeClr>
                </a:solidFill>
              </a:rPr>
              <a:t> a confident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395728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25112" y="2395728"/>
            <a:ext cx="3337560" cy="9144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72000" y="2761488"/>
            <a:ext cx="438912" cy="438912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852928"/>
            <a:ext cx="43891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2761488"/>
            <a:ext cx="21488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71F2A"/>
                </a:solidFill>
                <a:latin typeface="Aptos"/>
              </a:rPr>
              <a:t>HUMAN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401568"/>
            <a:ext cx="245214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25E6D"/>
                </a:solidFill>
                <a:latin typeface="Aptos"/>
              </a:rPr>
              <a:t>Medium / high / critical-risk actions</a:t>
            </a:r>
            <a:endParaRPr lang="en-IN" sz="1200" b="0" dirty="0">
              <a:solidFill>
                <a:srgbClr val="525E6D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525E6D"/>
                </a:solidFill>
                <a:latin typeface="Aptos"/>
              </a:rPr>
              <a:t> pause for approval before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2395728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28431" y="2395728"/>
            <a:ext cx="3337560" cy="91440"/>
          </a:xfrm>
          <a:prstGeom prst="roundRect">
            <a:avLst>
              <a:gd name="adj" fmla="val 8000"/>
            </a:avLst>
          </a:prstGeom>
          <a:solidFill>
            <a:srgbClr val="002366"/>
          </a:solidFill>
          <a:ln>
            <a:solidFill>
              <a:srgbClr val="002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75319" y="2761488"/>
            <a:ext cx="438912" cy="438912"/>
          </a:xfrm>
          <a:prstGeom prst="ellipse">
            <a:avLst/>
          </a:prstGeom>
          <a:solidFill>
            <a:srgbClr val="002366"/>
          </a:solidFill>
          <a:ln w="12700">
            <a:solidFill>
              <a:srgbClr val="002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2852928"/>
            <a:ext cx="43891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761488"/>
            <a:ext cx="21488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71F2A"/>
                </a:solidFill>
                <a:latin typeface="Aptos"/>
              </a:rPr>
              <a:t>CLOSED-LOOP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3401568"/>
            <a:ext cx="278165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25E6D"/>
                </a:solidFill>
                <a:latin typeface="Aptos"/>
              </a:rPr>
              <a:t>The workflow does not stop at submission</a:t>
            </a:r>
            <a:endParaRPr lang="en-IN" sz="1200" b="0" dirty="0">
              <a:solidFill>
                <a:srgbClr val="525E6D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525E6D"/>
                </a:solidFill>
                <a:latin typeface="Aptos"/>
              </a:rPr>
              <a:t> — it verifies the resulting state.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5989320"/>
            <a:ext cx="10972800" cy="41148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" y="6030468"/>
            <a:ext cx="10972800" cy="411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" y="6071616"/>
            <a:ext cx="10972800" cy="41148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654710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2366"/>
                </a:solidFill>
                <a:latin typeface="Aptos"/>
              </a:rPr>
              <a:t>BHARATRESOLVE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528816"/>
            <a:ext cx="8961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525E6D"/>
                </a:solidFill>
                <a:latin typeface="Aptos"/>
              </a:rPr>
              <a:t>04  / 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91695" cy="411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502920"/>
            <a:ext cx="4114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933"/>
                </a:solidFill>
                <a:latin typeface="Aptos"/>
              </a:rPr>
              <a:t>04  |  THE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41248"/>
            <a:ext cx="107899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71F2A"/>
                </a:solidFill>
                <a:latin typeface="Aptos"/>
              </a:rPr>
              <a:t>Make government problem-solving feel less like a maze.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5156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25E6D"/>
                </a:solidFill>
                <a:latin typeface="Aptos"/>
              </a:rPr>
              <a:t>The goal is simple: reduce the citizen's coordination burden while keeping decisions auditable and humans in control.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23160"/>
            <a:ext cx="384048" cy="384048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523744"/>
            <a:ext cx="38404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414016"/>
            <a:ext cx="24231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71F2A"/>
                </a:solidFill>
                <a:latin typeface="Aptos"/>
              </a:rPr>
              <a:t>LESS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414016"/>
            <a:ext cx="43434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25E6D"/>
                </a:solidFill>
                <a:latin typeface="Aptos"/>
              </a:rPr>
              <a:t>Find relevant services, sources and next steps faster.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27832"/>
            <a:ext cx="384048" cy="384048"/>
          </a:xfrm>
          <a:prstGeom prst="ellipse">
            <a:avLst/>
          </a:prstGeom>
          <a:solidFill>
            <a:srgbClr val="002366"/>
          </a:solidFill>
          <a:ln w="12700">
            <a:solidFill>
              <a:srgbClr val="002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328415"/>
            <a:ext cx="38404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3218688"/>
            <a:ext cx="24231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71F2A"/>
                </a:solidFill>
                <a:latin typeface="Aptos"/>
              </a:rPr>
              <a:t>BETTER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218688"/>
            <a:ext cx="43434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25E6D"/>
                </a:solidFill>
                <a:latin typeface="Aptos"/>
              </a:rPr>
              <a:t>Turn documents + live information into a traceable case.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32504"/>
            <a:ext cx="384048" cy="384048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133088"/>
            <a:ext cx="38404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4023360"/>
            <a:ext cx="24231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71F2A"/>
                </a:solidFill>
                <a:latin typeface="Aptos"/>
              </a:rPr>
              <a:t>SAFER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4023360"/>
            <a:ext cx="43434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25E6D"/>
                </a:solidFill>
                <a:latin typeface="Aptos"/>
              </a:rPr>
              <a:t>Route higher-risk actions through human approval.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837176"/>
            <a:ext cx="384048" cy="384048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937760"/>
            <a:ext cx="38404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4828032"/>
            <a:ext cx="24231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71F2A"/>
                </a:solidFill>
                <a:latin typeface="Aptos"/>
              </a:rPr>
              <a:t>VERIFIED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4828032"/>
            <a:ext cx="43434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25E6D"/>
                </a:solidFill>
                <a:latin typeface="Aptos"/>
              </a:rPr>
              <a:t>Close the loop with verification — or escalate.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2176272"/>
            <a:ext cx="3154680" cy="3474720"/>
          </a:xfrm>
          <a:prstGeom prst="roundRect">
            <a:avLst>
              <a:gd name="adj" fmla="val 8000"/>
            </a:avLst>
          </a:prstGeom>
          <a:solidFill>
            <a:srgbClr val="002366"/>
          </a:solidFill>
          <a:ln>
            <a:solidFill>
              <a:srgbClr val="002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520" y="2542032"/>
            <a:ext cx="2514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9933"/>
                </a:solidFill>
                <a:latin typeface="Aptos"/>
              </a:rPr>
              <a:t>FROM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852928"/>
            <a:ext cx="2514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3310128"/>
            <a:ext cx="2286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9933"/>
                </a:solidFill>
                <a:latin typeface="Apto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3675887"/>
            <a:ext cx="2514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4114800"/>
            <a:ext cx="2286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02366"/>
                </a:solidFill>
                <a:latin typeface="Aptos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453128"/>
            <a:ext cx="2514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4892040"/>
            <a:ext cx="2286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38808"/>
                </a:solidFill>
                <a:latin typeface="Aptos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5212080"/>
            <a:ext cx="2514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38808"/>
                </a:solidFill>
                <a:latin typeface="Aptos"/>
              </a:rPr>
              <a:t>VERIFIED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016752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2366"/>
                </a:solidFill>
                <a:latin typeface="Aptos"/>
              </a:rPr>
              <a:t>BHARATRESOLVE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989320"/>
            <a:ext cx="84582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171F2A"/>
                </a:solidFill>
                <a:latin typeface="Aptos"/>
              </a:rPr>
              <a:t>AI that doesn't just answer citizens — it helps resolve cases.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4710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2366"/>
                </a:solidFill>
                <a:latin typeface="Aptos"/>
              </a:rPr>
              <a:t>BHARATRESOLVE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528816"/>
            <a:ext cx="8961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525E6D"/>
                </a:solidFill>
                <a:latin typeface="Aptos"/>
              </a:rPr>
              <a:t>05  / 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497</Words>
  <Application>Microsoft Office PowerPoint</Application>
  <PresentationFormat>Widescreen</PresentationFormat>
  <Paragraphs>95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Satwik</dc:creator>
  <cp:keywords/>
  <dc:description>generated using python-pptx</dc:description>
  <cp:lastModifiedBy>kumarswastik30@gmail.com</cp:lastModifiedBy>
  <cp:revision>2</cp:revision>
  <dcterms:created xsi:type="dcterms:W3CDTF">2013-01-27T09:14:16Z</dcterms:created>
  <dcterms:modified xsi:type="dcterms:W3CDTF">2026-10-01T14:01:48Z</dcterms:modified>
  <cp:category/>
</cp:coreProperties>
</file>